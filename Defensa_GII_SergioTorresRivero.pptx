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9" r:id="rId4"/>
    <p:sldId id="276" r:id="rId5"/>
    <p:sldId id="277" r:id="rId6"/>
    <p:sldId id="265" r:id="rId7"/>
    <p:sldId id="258" r:id="rId8"/>
    <p:sldId id="283" r:id="rId9"/>
    <p:sldId id="260" r:id="rId10"/>
    <p:sldId id="273" r:id="rId11"/>
    <p:sldId id="266" r:id="rId12"/>
    <p:sldId id="27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365" autoAdjust="0"/>
  </p:normalViewPr>
  <p:slideViewPr>
    <p:cSldViewPr snapToGrid="0">
      <p:cViewPr varScale="1">
        <p:scale>
          <a:sx n="102" d="100"/>
          <a:sy n="102" d="100"/>
        </p:scale>
        <p:origin x="8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Informes de coberturas de </a:t>
            </a:r>
            <a:r>
              <a:rPr lang="es-ES" dirty="0" err="1"/>
              <a:t>JaCoCo</a:t>
            </a:r>
            <a:endParaRPr lang="es-E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Pruebas unitarias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Seguridad &amp; JWT</c:v>
                </c:pt>
                <c:pt idx="1">
                  <c:v>Controladores</c:v>
                </c:pt>
                <c:pt idx="2">
                  <c:v>Servicios</c:v>
                </c:pt>
                <c:pt idx="3">
                  <c:v>Excepciones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91</c:v>
                </c:pt>
                <c:pt idx="1">
                  <c:v>94</c:v>
                </c:pt>
                <c:pt idx="2">
                  <c:v>72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9-4AB3-AAAA-3272B8F9693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Pruebas E2E</c:v>
                </c:pt>
              </c:strCache>
            </c:strRef>
          </c:tx>
          <c:spPr>
            <a:solidFill>
              <a:schemeClr val="accent4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Seguridad &amp; JWT</c:v>
                </c:pt>
                <c:pt idx="1">
                  <c:v>Controladores</c:v>
                </c:pt>
                <c:pt idx="2">
                  <c:v>Servicios</c:v>
                </c:pt>
                <c:pt idx="3">
                  <c:v>Excepciones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80</c:v>
                </c:pt>
                <c:pt idx="1">
                  <c:v>35</c:v>
                </c:pt>
                <c:pt idx="2">
                  <c:v>19</c:v>
                </c:pt>
                <c:pt idx="3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39-4AB3-AAAA-3272B8F969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0151039"/>
        <c:axId val="540151999"/>
      </c:barChart>
      <c:catAx>
        <c:axId val="540151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40151999"/>
        <c:crosses val="autoZero"/>
        <c:auto val="1"/>
        <c:lblAlgn val="ctr"/>
        <c:lblOffset val="100"/>
        <c:noMultiLvlLbl val="0"/>
      </c:catAx>
      <c:valAx>
        <c:axId val="540151999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4015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BA997-1979-4C69-BECC-21AA1F702C76}" type="datetimeFigureOut">
              <a:rPr lang="es-ES" smtClean="0"/>
              <a:t>08/06/2026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7527F-ECD3-43BC-AD7C-959DDB4D1C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6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7527F-ECD3-43BC-AD7C-959DDB4D1C2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876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6D44-CBAF-6D49-D3A4-7250DB5B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EB702D-A08C-C53F-7373-8B0DC52DA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1BCF1D-9524-E384-3405-3C60A828D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E3A3ED-C6E4-C6BA-48E3-FF9F085BC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7527F-ECD3-43BC-AD7C-959DDB4D1C2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0285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7527F-ECD3-43BC-AD7C-959DDB4D1C2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8010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7527F-ECD3-43BC-AD7C-959DDB4D1C2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987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3488F-129A-47D3-2890-17A3B7A51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581789-B586-7E6C-CAAE-90CB3B5E8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22A19B-802B-2351-3280-89C9FC7F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7A1922-D4C4-B1FB-2556-C0D06625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03868B-ED3F-E1C8-84F4-B415C840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73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5D173-5AF8-1C3F-A543-6594A621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8FF88B-A30E-A93F-2C00-15241E4C4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B8B150-AF2E-DDEC-A910-DCF3B8C1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0F02CF-5E39-2973-C51E-5C31135E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9675AA-6F9D-E5A4-81F8-30DC1C73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5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856E6-8619-3C12-694E-F3219313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B07143-4E13-BE18-CB01-606980A9B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6A5973-5D63-DA40-D6C3-CB1F3ADB1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131B32-970F-60AE-AA53-AE8E4F8F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F7AC82-5E30-9682-6A13-819291EA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31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5E931-E6FC-1B52-E9E8-91E2E265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713A81-01CD-DFFB-1C4D-D2BEB1649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1DEDFB-04DB-6902-E1D6-E92762EAE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D89094-0C48-419A-A221-29D6F454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54A4F4-1DEF-52D8-701B-F4F510EB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97D2C6-FC05-42F0-0A1E-8BA2F061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04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74CD0-A115-27B7-C8E1-B0388998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AB8AA-9878-1004-DE70-3053FF42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11C84E-515B-CE6C-DE5E-556CDF05E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01A57E-154E-7DEF-4321-C159F3DF0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5412EC-7753-0F21-6147-61AF600F5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3C18C66-CD61-0835-1152-25413405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9DD3E2-4594-D421-E14F-AA7841BA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4E1534-E82E-1459-99F1-7D535580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184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BECA9-B5D7-B1A7-A934-0948DEF9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1EDBD2-76A6-5831-1DBC-F5798B5D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156C4F-6839-AAF7-208C-7780319D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FC99FE-1963-D436-EB2C-00797283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97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3D538F-F534-1872-6CB1-461949917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8A979D-84D8-74E9-2A12-22DAA995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DD2783-879F-9AA4-5BB9-003ADFE7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5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65589-35D1-0DBD-588E-2CBE8388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2FCC18-FA1A-9DF3-3EA4-2C215A390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E1ABAC-B96F-3E9D-0981-1E022C51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D038B3-230E-2F60-7DD4-5EB8C4A9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9E77DD-BABE-293F-8051-AB8A39A3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7340B8-533E-A380-C082-619DF9C2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78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DE379-6283-130C-1FC6-5C124DE3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8288AA-4D60-1C86-DAAE-86F76DF94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882C16-6B33-334A-C7B7-FA99D8D9C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100969-6C0A-272B-6DA5-6A19EF29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B9C1D0-63F6-C967-0521-BE2CDA4E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ECC8D3-0753-2E8F-4B8C-4B442AAE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351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5A893-D919-0D81-4B09-E87AE3F6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A94372-7BE5-FC7D-9172-FC215B66F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4CDB40-8A92-63B0-5852-10EC91EC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EF2C3E-A756-B98E-6AC3-DC9F4DAC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C3D496-C1F9-259F-E189-16A637AC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104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E69762-F4F7-F9F9-2736-F9DB9163D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7468D6-9F28-929D-91A2-CF222BFB6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EE921-7629-4F04-F354-E48183B1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681386-068A-A7EF-467A-C5A45711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13496A-6089-A32F-944F-DD13BA42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777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55AA-1CFD-5EB1-20DB-4C136233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367"/>
            <a:ext cx="10515600" cy="653196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F663ED-25FF-AE1C-45DA-FDE32131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612" y="6356349"/>
            <a:ext cx="7507288" cy="365125"/>
          </a:xfrm>
        </p:spPr>
        <p:txBody>
          <a:bodyPr/>
          <a:lstStyle>
            <a:lvl1pPr>
              <a:defRPr lang="es-ES" sz="1200" b="1" i="0" smtClean="0">
                <a:effectLst/>
              </a:defRPr>
            </a:lvl1pPr>
          </a:lstStyle>
          <a:p>
            <a:pPr algn="l"/>
            <a:r>
              <a:rPr lang="es-ES" dirty="0"/>
              <a:t>EVENTMANAGER: UNA APLICACION WEB PARA GESTIÓN DE EVENTOS</a:t>
            </a:r>
            <a:endParaRPr lang="es-ES" sz="14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116228-2237-F002-ADE1-98599FF9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F5B18-6C13-4F6E-8500-E506A8BFB702}" type="slidenum">
              <a:rPr lang="es-ES" smtClean="0"/>
              <a:pPr/>
              <a:t>‹Nº›</a:t>
            </a:fld>
            <a:endParaRPr lang="es-ES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15ED414-B2BC-8D56-1F67-524E457ADC57}"/>
              </a:ext>
            </a:extLst>
          </p:cNvPr>
          <p:cNvCxnSpPr/>
          <p:nvPr userDrawn="1"/>
        </p:nvCxnSpPr>
        <p:spPr>
          <a:xfrm>
            <a:off x="838200" y="1325563"/>
            <a:ext cx="10548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761BA6FE-0DBF-3D07-7E0B-8541EB558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1663700"/>
            <a:ext cx="5259388" cy="4197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599FFCED-1648-5B5A-A916-F965170F2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63700"/>
            <a:ext cx="5027857" cy="4197345"/>
          </a:xfrm>
        </p:spPr>
        <p:txBody>
          <a:bodyPr>
            <a:normAutofit/>
          </a:bodyPr>
          <a:lstStyle>
            <a:lvl1pPr marL="0" indent="0" algn="just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2235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22C4C1-3C6E-E3E1-7D67-8A9E48A4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B1D4C9-5521-660F-C2B4-7F0EC76F9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543CD8-6B21-310B-DE27-8BD4DD8F5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78AEB-4040-594B-E60B-87656DF47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EVENTMANAGER: UNA APLICACION WEB PARA GESTIÓN DE EVENTOS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1AB025-ACBD-46CE-0463-8C5FCE8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FE40A-99E6-47DA-A0FD-B61BE37977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51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0F593-C2BA-5FCC-9D29-D3981C085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4833"/>
            <a:ext cx="9144000" cy="866267"/>
          </a:xfrm>
        </p:spPr>
        <p:txBody>
          <a:bodyPr>
            <a:normAutofit/>
          </a:bodyPr>
          <a:lstStyle/>
          <a:p>
            <a:r>
              <a:rPr lang="es-E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EVENTMANAGER: UNA APLICACIÓN WEB PARA</a:t>
            </a:r>
            <a:br>
              <a:rPr lang="es-E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s-ES" sz="2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GESTIÓN DE EVENTOS</a:t>
            </a:r>
            <a:r>
              <a:rPr lang="es-E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7B7436-6982-F33E-2779-B56402A88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3435"/>
            <a:ext cx="9144000" cy="866267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Grado en Ingeniería Informática</a:t>
            </a:r>
          </a:p>
          <a:p>
            <a:r>
              <a:rPr lang="es-ES" dirty="0"/>
              <a:t>Trabajo Fin de Grado </a:t>
            </a:r>
            <a:endParaRPr lang="es-ES" b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558FAF53-5B9C-E6D6-65DC-A4E5D6F34DC6}"/>
              </a:ext>
            </a:extLst>
          </p:cNvPr>
          <p:cNvSpPr txBox="1">
            <a:spLocks/>
          </p:cNvSpPr>
          <p:nvPr/>
        </p:nvSpPr>
        <p:spPr>
          <a:xfrm>
            <a:off x="1524000" y="3506740"/>
            <a:ext cx="9144000" cy="8662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Autor: Sergio Torres Rivero</a:t>
            </a:r>
          </a:p>
          <a:p>
            <a:r>
              <a:rPr lang="es-ES" b="1" dirty="0"/>
              <a:t>Tutor: Michel Maes Bermejo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51D15C4-1438-1E11-D971-A690159D5C8D}"/>
              </a:ext>
            </a:extLst>
          </p:cNvPr>
          <p:cNvCxnSpPr/>
          <p:nvPr/>
        </p:nvCxnSpPr>
        <p:spPr>
          <a:xfrm>
            <a:off x="3946688" y="2745608"/>
            <a:ext cx="4298623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ETSII - Universidad Rey Juan Carlos">
            <a:extLst>
              <a:ext uri="{FF2B5EF4-FFF2-40B4-BE49-F238E27FC236}">
                <a16:creationId xmlns:a16="http://schemas.microsoft.com/office/drawing/2014/main" id="{86B7815C-EDFA-E1D6-170D-48A8948C0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4524542"/>
            <a:ext cx="7562849" cy="164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74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32C3-2C99-5EEA-D8AB-52C4E8A4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F9D37-74BA-7479-E53A-0B5D2B92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5932EE-2ECC-9C60-B312-9973332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47CFBA-F99E-8B75-6434-494BFE15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C10E9A-CF23-2AA3-AEBA-8C9F82BA3EC6}"/>
              </a:ext>
            </a:extLst>
          </p:cNvPr>
          <p:cNvSpPr txBox="1"/>
          <p:nvPr/>
        </p:nvSpPr>
        <p:spPr>
          <a:xfrm>
            <a:off x="836612" y="1609725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Motivación y contexto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Metodología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Modelo de dominio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Estructura del sistema y </a:t>
            </a:r>
            <a:r>
              <a:rPr lang="es-ES" sz="2400" b="1" dirty="0" err="1"/>
              <a:t>stack</a:t>
            </a:r>
            <a:r>
              <a:rPr lang="es-ES" sz="2400" b="1" dirty="0"/>
              <a:t> tecnológico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Detalles de la implementación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Control de calidad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Demostración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314319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94B04-54CB-FBB7-DFA5-49597A7B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Motivación y contexto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1F1715-9B02-7226-588F-7DE1FA4E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27C6C37-E651-428D-C9B8-6C1E6199E4D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6612" y="1650210"/>
            <a:ext cx="1051560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organización de eventos privados suele requerir de múltiples herramientas fragmentadas.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ES" sz="2000" dirty="0"/>
              <a:t>Las grandes 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lternativas actuales, como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Eventbrite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Meetup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están enfocadas en eventos públicos masivos e incluyen comisiones o modelos de suscripción.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ES" altLang="es-E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EventManager</a:t>
            </a:r>
            <a:r>
              <a:rPr lang="es-ES" altLang="es-ES" sz="2000" b="1" dirty="0"/>
              <a:t> </a:t>
            </a:r>
            <a:r>
              <a:rPr lang="es-ES" altLang="es-ES" sz="2000" dirty="0"/>
              <a:t>es una a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plicación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centralizada para la gestión de eventos privados.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Enfoque en la privacidad y simplicidad.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 suscripciones ni funciones superfluas.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Gestión dinámica de roles por evento.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3825B6E-A8EF-7334-8BDB-560A868C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7089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CD67-13A1-4547-6F6E-EB510048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8895E-944F-9AE8-F4E3-28CB4AB9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61A8F1-B097-823F-DAAA-35F7FA0D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2EF2E1-1778-A52C-95CA-623E3582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D15118-ED72-2744-6338-98375F1D3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45174" y="1696958"/>
            <a:ext cx="2952962" cy="495299"/>
          </a:xfrm>
        </p:spPr>
        <p:txBody>
          <a:bodyPr>
            <a:normAutofit/>
          </a:bodyPr>
          <a:lstStyle/>
          <a:p>
            <a:pPr algn="ctr"/>
            <a:r>
              <a:rPr lang="es-ES" sz="2000" b="1" dirty="0"/>
              <a:t>Objetivos funcionales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D960AED-A599-4B04-4FB2-3BC5A39E32CF}"/>
              </a:ext>
            </a:extLst>
          </p:cNvPr>
          <p:cNvSpPr/>
          <p:nvPr/>
        </p:nvSpPr>
        <p:spPr>
          <a:xfrm>
            <a:off x="2067996" y="4059481"/>
            <a:ext cx="3107319" cy="119514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Gestión colaborativa de regalos y aportaciones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88F432B-7013-28C1-D441-A1F87B32F176}"/>
              </a:ext>
            </a:extLst>
          </p:cNvPr>
          <p:cNvSpPr/>
          <p:nvPr/>
        </p:nvSpPr>
        <p:spPr>
          <a:xfrm>
            <a:off x="6887995" y="2322512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Arquitectura modular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9D18892-6617-A029-B440-8946DCF58A47}"/>
              </a:ext>
            </a:extLst>
          </p:cNvPr>
          <p:cNvSpPr/>
          <p:nvPr/>
        </p:nvSpPr>
        <p:spPr>
          <a:xfrm>
            <a:off x="9321800" y="2322512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Autenticación segura sin estado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EC0EC09-8534-147D-26C7-468E34DDB759}"/>
              </a:ext>
            </a:extLst>
          </p:cNvPr>
          <p:cNvSpPr/>
          <p:nvPr/>
        </p:nvSpPr>
        <p:spPr>
          <a:xfrm>
            <a:off x="6887995" y="3984623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>
                <a:solidFill>
                  <a:srgbClr val="FFFFFF"/>
                </a:solidFill>
              </a:rPr>
              <a:t>Frontend</a:t>
            </a:r>
            <a:r>
              <a:rPr lang="es-ES" sz="2000" b="1" dirty="0">
                <a:solidFill>
                  <a:srgbClr val="FFFFFF"/>
                </a:solidFill>
              </a:rPr>
              <a:t> reactivo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46801EF-3B94-35EF-EFDB-83286D9FDD6B}"/>
              </a:ext>
            </a:extLst>
          </p:cNvPr>
          <p:cNvSpPr/>
          <p:nvPr/>
        </p:nvSpPr>
        <p:spPr>
          <a:xfrm>
            <a:off x="9321800" y="3984623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Despliegue en la nube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52A71F0-7960-B324-8E61-6FFEE8F34E99}"/>
              </a:ext>
            </a:extLst>
          </p:cNvPr>
          <p:cNvSpPr/>
          <p:nvPr/>
        </p:nvSpPr>
        <p:spPr>
          <a:xfrm>
            <a:off x="836612" y="2308815"/>
            <a:ext cx="2698440" cy="128369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Gestión integral de usuarios y eventos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3E77220-C800-CC16-5747-A5A216BE7D5D}"/>
              </a:ext>
            </a:extLst>
          </p:cNvPr>
          <p:cNvSpPr/>
          <p:nvPr/>
        </p:nvSpPr>
        <p:spPr>
          <a:xfrm>
            <a:off x="3787750" y="2308815"/>
            <a:ext cx="2698440" cy="128369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Sistema de inscripción y control de asistencia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B445EBEC-EAFE-162A-8B69-850C7AEC9985}"/>
              </a:ext>
            </a:extLst>
          </p:cNvPr>
          <p:cNvSpPr txBox="1">
            <a:spLocks/>
          </p:cNvSpPr>
          <p:nvPr/>
        </p:nvSpPr>
        <p:spPr>
          <a:xfrm>
            <a:off x="7546149" y="1682751"/>
            <a:ext cx="2952962" cy="495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/>
              <a:t>Objetivos técnicos</a:t>
            </a:r>
          </a:p>
        </p:txBody>
      </p:sp>
    </p:spTree>
    <p:extLst>
      <p:ext uri="{BB962C8B-B14F-4D97-AF65-F5344CB8AC3E}">
        <p14:creationId xmlns:p14="http://schemas.microsoft.com/office/powerpoint/2010/main" val="216979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5E6CE-B4A0-7888-223C-FB44855A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61B23C0E-60B7-E890-CA87-BFDBF8557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475" y="2669283"/>
            <a:ext cx="2626096" cy="262609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7A6F21C-D607-0FF0-B5B8-C8B260BE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Metodología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0ECA4-B991-976C-3688-3C2C303F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8364820A-1506-8862-6CF3-A54FAE9E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2F56519-C289-2FF4-D54E-2396BF64AC90}"/>
              </a:ext>
            </a:extLst>
          </p:cNvPr>
          <p:cNvSpPr/>
          <p:nvPr/>
        </p:nvSpPr>
        <p:spPr>
          <a:xfrm>
            <a:off x="975434" y="1736216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Desarrollo iterativo e incremental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0E1B53B-73AE-DF9B-8344-FE22A056A83E}"/>
              </a:ext>
            </a:extLst>
          </p:cNvPr>
          <p:cNvSpPr/>
          <p:nvPr/>
        </p:nvSpPr>
        <p:spPr>
          <a:xfrm>
            <a:off x="6399996" y="1750731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Control de versiones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1861E51-7FC2-DB54-615E-865A50DF7B34}"/>
              </a:ext>
            </a:extLst>
          </p:cNvPr>
          <p:cNvSpPr/>
          <p:nvPr/>
        </p:nvSpPr>
        <p:spPr>
          <a:xfrm>
            <a:off x="3687715" y="1750731"/>
            <a:ext cx="2032000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Reuniones periódicas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9F832F7-F042-F3B5-E9FB-F8C2BAB3BDA9}"/>
              </a:ext>
            </a:extLst>
          </p:cNvPr>
          <p:cNvSpPr/>
          <p:nvPr/>
        </p:nvSpPr>
        <p:spPr>
          <a:xfrm>
            <a:off x="9010454" y="1750731"/>
            <a:ext cx="2343346" cy="127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Automatización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5CDC519-16EC-5502-B67F-3004C9667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141" y="3267646"/>
            <a:ext cx="880561" cy="880561"/>
          </a:xfrm>
          <a:prstGeom prst="rect">
            <a:avLst/>
          </a:prstGeom>
        </p:spPr>
      </p:pic>
      <p:pic>
        <p:nvPicPr>
          <p:cNvPr id="1030" name="Picture 6" descr="Git · GitHub">
            <a:extLst>
              <a:ext uri="{FF2B5EF4-FFF2-40B4-BE49-F238E27FC236}">
                <a16:creationId xmlns:a16="http://schemas.microsoft.com/office/drawing/2014/main" id="{BE40C300-FC17-DE18-ACF1-22B176A60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594" y="3307408"/>
            <a:ext cx="862711" cy="86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iclos de vida iterativo e incremental, ¿Qué son? - Curso Online PMP® y  CAPM® de Dirección de Proyectos">
            <a:extLst>
              <a:ext uri="{FF2B5EF4-FFF2-40B4-BE49-F238E27FC236}">
                <a16:creationId xmlns:a16="http://schemas.microsoft.com/office/drawing/2014/main" id="{24EAE2CD-AF99-BD98-AF52-C8712783EF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6" t="4801" r="29295" b="31279"/>
          <a:stretch>
            <a:fillRect/>
          </a:stretch>
        </p:blipFill>
        <p:spPr bwMode="auto">
          <a:xfrm>
            <a:off x="2341082" y="3332814"/>
            <a:ext cx="880562" cy="86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A675CAD-E962-ECE3-4E52-71E8FDAD7964}"/>
              </a:ext>
            </a:extLst>
          </p:cNvPr>
          <p:cNvSpPr/>
          <p:nvPr/>
        </p:nvSpPr>
        <p:spPr>
          <a:xfrm>
            <a:off x="1732049" y="4836003"/>
            <a:ext cx="1339669" cy="65319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Análisis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0237A85-F2F2-7838-E9EA-00C5842D21FA}"/>
              </a:ext>
            </a:extLst>
          </p:cNvPr>
          <p:cNvSpPr/>
          <p:nvPr/>
        </p:nvSpPr>
        <p:spPr>
          <a:xfrm>
            <a:off x="3687715" y="4836003"/>
            <a:ext cx="2178263" cy="65319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3A21B9B-C7C6-84A7-91DB-29D1D6A2F456}"/>
              </a:ext>
            </a:extLst>
          </p:cNvPr>
          <p:cNvSpPr/>
          <p:nvPr/>
        </p:nvSpPr>
        <p:spPr>
          <a:xfrm>
            <a:off x="6481975" y="4836003"/>
            <a:ext cx="1622365" cy="65319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99F5822-5F49-28E2-5C2D-6E6966FB836A}"/>
              </a:ext>
            </a:extLst>
          </p:cNvPr>
          <p:cNvSpPr/>
          <p:nvPr/>
        </p:nvSpPr>
        <p:spPr>
          <a:xfrm>
            <a:off x="8765581" y="4836003"/>
            <a:ext cx="1740719" cy="65319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FFFFFF"/>
                </a:solidFill>
              </a:rPr>
              <a:t>Revisión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6370599-58D9-BDA1-BCD1-514CC7A359C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071718" y="5162601"/>
            <a:ext cx="6159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75791A4-3E81-4DEF-D87E-9E1FF1D9CD58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865978" y="5162601"/>
            <a:ext cx="6159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EBC30B1-FDCE-EF27-F216-B01E608E7CC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104340" y="5162601"/>
            <a:ext cx="6612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Conector: curvado 52">
            <a:extLst>
              <a:ext uri="{FF2B5EF4-FFF2-40B4-BE49-F238E27FC236}">
                <a16:creationId xmlns:a16="http://schemas.microsoft.com/office/drawing/2014/main" id="{9B4460A2-BF61-2AD9-60C6-4BDDA54FBC9C}"/>
              </a:ext>
            </a:extLst>
          </p:cNvPr>
          <p:cNvCxnSpPr>
            <a:stCxn id="21" idx="3"/>
            <a:endCxn id="18" idx="1"/>
          </p:cNvCxnSpPr>
          <p:nvPr/>
        </p:nvCxnSpPr>
        <p:spPr>
          <a:xfrm flipH="1">
            <a:off x="1732049" y="5162601"/>
            <a:ext cx="8774251" cy="12700"/>
          </a:xfrm>
          <a:prstGeom prst="curvedConnector5">
            <a:avLst>
              <a:gd name="adj1" fmla="val -2605"/>
              <a:gd name="adj2" fmla="val 5485039"/>
              <a:gd name="adj3" fmla="val 10260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43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4E8E-CC00-A719-61C7-7D97D44A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5B51339-0C84-7A43-A945-A5A8B059D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1373359"/>
            <a:ext cx="4156715" cy="51655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E5CD6-5EB3-4064-94A2-8886AE84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dominio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49F1245-57E3-DC43-8CBC-C204BC2C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BB61CF-8947-AD33-2CD4-E2325059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481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21313-50BA-3E05-B882-A6632C5A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del sistema y </a:t>
            </a:r>
            <a:r>
              <a:rPr lang="es-ES" dirty="0" err="1"/>
              <a:t>stack</a:t>
            </a:r>
            <a:r>
              <a:rPr lang="es-ES" dirty="0"/>
              <a:t> tecnológico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06E193-F78E-2FEF-695E-429AA0BBC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52521"/>
            <a:ext cx="5451066" cy="2598967"/>
          </a:xfrm>
        </p:spPr>
        <p:txBody>
          <a:bodyPr>
            <a:normAutofit/>
          </a:bodyPr>
          <a:lstStyle/>
          <a:p>
            <a:r>
              <a:rPr lang="es-ES" sz="2000" b="1" dirty="0"/>
              <a:t>Arquitectura</a:t>
            </a:r>
            <a:r>
              <a:rPr lang="es-ES" sz="2000" dirty="0"/>
              <a:t> lógica distribuida en tres capas: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Presentación</a:t>
            </a:r>
            <a:r>
              <a:rPr lang="es-ES" sz="2000" dirty="0"/>
              <a:t>: </a:t>
            </a:r>
            <a:r>
              <a:rPr lang="es-ES" sz="2000" i="1" dirty="0" err="1"/>
              <a:t>Frontend</a:t>
            </a:r>
            <a:r>
              <a:rPr lang="es-ES" sz="2000" dirty="0"/>
              <a:t> SPA reactivo.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/>
              <a:t>Lógica de negocio</a:t>
            </a:r>
            <a:r>
              <a:rPr lang="es-ES" sz="2000" dirty="0"/>
              <a:t>: </a:t>
            </a:r>
            <a:r>
              <a:rPr lang="es-ES" sz="2000" i="1" dirty="0" err="1"/>
              <a:t>Backend</a:t>
            </a:r>
            <a:r>
              <a:rPr lang="es-ES" sz="2000" dirty="0"/>
              <a:t> exponiendo una API REST.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Persistencia de datos</a:t>
            </a:r>
            <a:r>
              <a:rPr lang="es-ES" sz="2000" dirty="0"/>
              <a:t>: Base de datos relacional PostgreSQL.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s-ES" sz="2000" dirty="0" err="1"/>
              <a:t>MinIO</a:t>
            </a:r>
            <a:r>
              <a:rPr lang="es-ES" sz="2000" dirty="0"/>
              <a:t> y AWS S3 para contenido multimedia.</a:t>
            </a:r>
          </a:p>
          <a:p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B3B00E1-F488-0BD0-A530-D4EBDBF2C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79" y="1561727"/>
            <a:ext cx="5067712" cy="4400718"/>
          </a:xfrm>
          <a:prstGeom prst="rect">
            <a:avLst/>
          </a:prstGeom>
        </p:spPr>
      </p:pic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9C98D0F6-1EDF-3D3C-7FD6-EEB1E6F33E24}"/>
              </a:ext>
            </a:extLst>
          </p:cNvPr>
          <p:cNvSpPr txBox="1">
            <a:spLocks/>
          </p:cNvSpPr>
          <p:nvPr/>
        </p:nvSpPr>
        <p:spPr>
          <a:xfrm>
            <a:off x="836609" y="4394098"/>
            <a:ext cx="5027857" cy="176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b="1" dirty="0"/>
              <a:t>Infraestructura</a:t>
            </a:r>
            <a:r>
              <a:rPr lang="es-E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/>
              <a:t>Docker &amp; </a:t>
            </a:r>
            <a:r>
              <a:rPr lang="es-ES" sz="2000" b="1" dirty="0" err="1"/>
              <a:t>Compose</a:t>
            </a:r>
            <a:endParaRPr lang="es-E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dirty="0"/>
              <a:t>AWS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6F697317-D910-1905-21A0-794A8BD9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609" y="6356350"/>
            <a:ext cx="7507288" cy="365125"/>
          </a:xfrm>
        </p:spPr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AF051F3C-258B-860F-FAD4-8D1AC247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7046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EA7A-60B0-A8BD-217E-C99F6555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0F872-191E-27FE-54E0-FE7F97FB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Detalles de la implementación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701DD7-7CE8-4F02-E8C6-403FA6F0B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52521"/>
            <a:ext cx="3358316" cy="348508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Uso de </a:t>
            </a:r>
            <a:r>
              <a:rPr lang="es-ES" sz="2000" b="1" dirty="0" err="1"/>
              <a:t>OpenAPI</a:t>
            </a:r>
            <a:r>
              <a:rPr lang="es-ES" sz="2000" dirty="0"/>
              <a:t> para la generación automática de las </a:t>
            </a:r>
            <a:r>
              <a:rPr lang="es-ES" sz="2000" dirty="0" err="1"/>
              <a:t>APIs</a:t>
            </a:r>
            <a:r>
              <a:rPr lang="es-ES" sz="2000" dirty="0"/>
              <a:t> y </a:t>
            </a:r>
            <a:r>
              <a:rPr lang="es-ES" sz="2000" dirty="0" err="1"/>
              <a:t>DTOs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Definición centralizada en un único fichero </a:t>
            </a:r>
            <a:r>
              <a:rPr lang="es-ES" sz="2000" dirty="0" err="1"/>
              <a:t>api.yaml</a:t>
            </a:r>
            <a:r>
              <a:rPr lang="es-ES" sz="2000" dirty="0"/>
              <a:t>.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E29B3162-C0E6-CB7F-F39A-2FBEDD2C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DE5D2775-3DA3-6A36-7D15-46103407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599BF25B-0EC7-5C65-0A6D-C0972994685E}"/>
              </a:ext>
            </a:extLst>
          </p:cNvPr>
          <p:cNvSpPr txBox="1">
            <a:spLocks/>
          </p:cNvSpPr>
          <p:nvPr/>
        </p:nvSpPr>
        <p:spPr>
          <a:xfrm>
            <a:off x="6096000" y="3338985"/>
            <a:ext cx="5259388" cy="1345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2000" dirty="0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8EF57E6B-537B-66EA-8CDE-7D5F6FE5CE27}"/>
              </a:ext>
            </a:extLst>
          </p:cNvPr>
          <p:cNvSpPr txBox="1">
            <a:spLocks/>
          </p:cNvSpPr>
          <p:nvPr/>
        </p:nvSpPr>
        <p:spPr>
          <a:xfrm>
            <a:off x="6094412" y="3429000"/>
            <a:ext cx="5259388" cy="1345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2000" dirty="0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E14C7D19-50E4-688E-66A5-F86E50518CC4}"/>
              </a:ext>
            </a:extLst>
          </p:cNvPr>
          <p:cNvSpPr txBox="1">
            <a:spLocks/>
          </p:cNvSpPr>
          <p:nvPr/>
        </p:nvSpPr>
        <p:spPr>
          <a:xfrm>
            <a:off x="6092824" y="1666823"/>
            <a:ext cx="5147470" cy="1910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Implementación del patrón </a:t>
            </a:r>
            <a:r>
              <a:rPr lang="es-ES" sz="2000" b="1" dirty="0"/>
              <a:t>JPA </a:t>
            </a:r>
            <a:r>
              <a:rPr lang="es-ES" sz="2000" b="1" dirty="0" err="1"/>
              <a:t>Specification</a:t>
            </a:r>
            <a:r>
              <a:rPr lang="es-ES" sz="2000" b="1" dirty="0"/>
              <a:t> </a:t>
            </a:r>
            <a:r>
              <a:rPr lang="es-ES" sz="2000" dirty="0"/>
              <a:t>basado en la API </a:t>
            </a:r>
            <a:r>
              <a:rPr lang="es-ES" sz="2000" dirty="0" err="1"/>
              <a:t>Criteria</a:t>
            </a:r>
            <a:r>
              <a:rPr lang="es-ES" sz="2000" dirty="0"/>
              <a:t> para la gestión de filtros complejos.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Integración con Spring Data para la paginación, ordenación y cálculo de totales.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BC85B63-6EB7-0C49-2B35-E414FE58E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20" y="3742681"/>
            <a:ext cx="4749174" cy="233865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810E950-6BBD-5DC5-1217-F2017ECB5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185" y="1652521"/>
            <a:ext cx="1312696" cy="470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42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62C3F-0217-CCB8-50F6-157317E2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calidad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19A58B-D89B-9B67-31AF-08929097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04CEC8-DD82-7D04-22AB-5D881B3F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8</a:t>
            </a:fld>
            <a:endParaRPr lang="es-ES" dirty="0"/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C162630B-EE19-F203-5758-A00FC93AA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360672"/>
              </p:ext>
            </p:extLst>
          </p:nvPr>
        </p:nvGraphicFramePr>
        <p:xfrm>
          <a:off x="2957922" y="1508288"/>
          <a:ext cx="5983948" cy="3372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E806D382-BB96-4D5F-E37D-2B7A0FEA6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4966754"/>
            <a:ext cx="10515600" cy="11104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+250 pruebas unitarias y de integración para asegurar exhaustivamente la lógica de negocio y los casos límite del sistema.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77 pruebas E2E con </a:t>
            </a:r>
            <a:r>
              <a:rPr lang="es-ES" dirty="0" err="1"/>
              <a:t>Selenium</a:t>
            </a:r>
            <a:r>
              <a:rPr lang="es-ES" dirty="0"/>
              <a:t> complementarias enfocadas en validar el éxito de los flujos completos de interacción del usuario desde la interfaz gráfica. </a:t>
            </a:r>
          </a:p>
        </p:txBody>
      </p:sp>
    </p:spTree>
    <p:extLst>
      <p:ext uri="{BB962C8B-B14F-4D97-AF65-F5344CB8AC3E}">
        <p14:creationId xmlns:p14="http://schemas.microsoft.com/office/powerpoint/2010/main" val="182324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FD84-D5C3-2483-79B4-31D52C860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A203E-AFA2-9F95-13D4-5BF5DA74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Demostración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DAE3C9-2256-DD24-77A8-ACF1F070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/>
              <a:t>EVENTMANAGER: UNA APLICACION WEB PARA GESTIÓN DE EVENTOS</a:t>
            </a:r>
            <a:endParaRPr lang="es-ES" sz="14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537396-CDAB-D2A2-D568-BD458334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9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EE86759-050C-BFC8-8ADF-BE71ED2CF7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13"/>
          <a:stretch>
            <a:fillRect/>
          </a:stretch>
        </p:blipFill>
        <p:spPr>
          <a:xfrm>
            <a:off x="2318994" y="2102348"/>
            <a:ext cx="7374761" cy="3998443"/>
          </a:xfrm>
          <a:prstGeom prst="rect">
            <a:avLst/>
          </a:prstGeom>
        </p:spPr>
      </p:pic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EE2E0285-35B8-950E-29B2-278AEB413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63700"/>
            <a:ext cx="10515600" cy="365125"/>
          </a:xfrm>
        </p:spPr>
        <p:txBody>
          <a:bodyPr/>
          <a:lstStyle/>
          <a:p>
            <a:r>
              <a:rPr lang="es-ES" dirty="0"/>
              <a:t>La aplicación web se encuentra disponible en la siguiente url: https://52.51.236.28/</a:t>
            </a:r>
          </a:p>
        </p:txBody>
      </p:sp>
    </p:spTree>
    <p:extLst>
      <p:ext uri="{BB962C8B-B14F-4D97-AF65-F5344CB8AC3E}">
        <p14:creationId xmlns:p14="http://schemas.microsoft.com/office/powerpoint/2010/main" val="226070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93F9-174A-2033-53A7-9C3D85B0D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6EB51-D55E-26CA-DFF2-140DFF91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B31325-E81D-DA76-8F13-63C1672D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ES" dirty="0"/>
              <a:t>EVENTMANAGER: UNA APLICACION WEB PARA GESTIÓN DE EVENTOS</a:t>
            </a:r>
            <a:endParaRPr lang="es-ES" sz="1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36604E0-E6AC-D62E-5A75-BED1EA16FB2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6612" y="1743923"/>
            <a:ext cx="1051560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Metas alcanzadas: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egoe UI Symbol" panose="020B0502040204020203" pitchFamily="34" charset="0"/>
              <a:buChar char="✓"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Plataforma 100% funcional y desplegada en entorno productivo.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egoe UI Symbol" panose="020B0502040204020203" pitchFamily="34" charset="0"/>
              <a:buChar char="✓"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Experiencia de usuario centralizada, privada e intuitiva.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egoe UI Symbol" panose="020B0502040204020203" pitchFamily="34" charset="0"/>
              <a:buChar char="✓"/>
            </a:pPr>
            <a:r>
              <a:rPr lang="es-ES" sz="1800" dirty="0"/>
              <a:t>Implementación exitosa del sistema de roles dinámicos y  módulo colaborativo.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egoe UI Symbol" panose="020B0502040204020203" pitchFamily="34" charset="0"/>
              <a:buChar char="✓"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Arquitectura sólida y segura.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Líneas de trabajo futuro: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Creación y búsqueda de eventos públicos mediante etiquetas.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1800" dirty="0">
                <a:latin typeface="Google Sans Text"/>
              </a:rPr>
              <a:t>Enfoque en la 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lta disponibilidad: Balanceador de carga y réplicas del </a:t>
            </a:r>
            <a:r>
              <a:rPr kumimoji="0" lang="es-ES" altLang="es-E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backend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Mejoras en observabilidad y monitorización.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AC3799-B578-56CD-04A9-4A6A0E7F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5B18-6C13-4F6E-8500-E506A8BFB702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0520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0C56454-6AEA-55DA-162F-4B481AE2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9490"/>
            <a:ext cx="5110113" cy="365125"/>
          </a:xfrm>
        </p:spPr>
        <p:txBody>
          <a:bodyPr/>
          <a:lstStyle/>
          <a:p>
            <a:pPr algn="l"/>
            <a:r>
              <a:rPr lang="es-ES" b="1" dirty="0"/>
              <a:t>EVENTMANAGER: UNA APLICACION WEB PARA GESTIÓN DE EVENTOS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1B17194-4A45-752D-0315-5E79EACA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E40A-99E6-47DA-A0FD-B61BE37977EC}" type="slidenum">
              <a:rPr lang="es-ES" smtClean="0"/>
              <a:t>11</a:t>
            </a:fld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F17C34-3B24-FC4F-229A-12B5C61E2603}"/>
              </a:ext>
            </a:extLst>
          </p:cNvPr>
          <p:cNvSpPr txBox="1">
            <a:spLocks/>
          </p:cNvSpPr>
          <p:nvPr/>
        </p:nvSpPr>
        <p:spPr>
          <a:xfrm>
            <a:off x="838200" y="2372891"/>
            <a:ext cx="10515600" cy="653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Gracias por vuestra atención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E8E6C30-2139-32F0-6A34-B67E2A16AA27}"/>
              </a:ext>
            </a:extLst>
          </p:cNvPr>
          <p:cNvSpPr txBox="1">
            <a:spLocks/>
          </p:cNvSpPr>
          <p:nvPr/>
        </p:nvSpPr>
        <p:spPr>
          <a:xfrm>
            <a:off x="838200" y="3372216"/>
            <a:ext cx="10515600" cy="653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¿Dudas?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6606C9D-2FDE-F9B1-D08E-8E1ED4898059}"/>
              </a:ext>
            </a:extLst>
          </p:cNvPr>
          <p:cNvCxnSpPr>
            <a:cxnSpLocks/>
          </p:cNvCxnSpPr>
          <p:nvPr/>
        </p:nvCxnSpPr>
        <p:spPr>
          <a:xfrm>
            <a:off x="0" y="2026762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3737930-5C8A-936D-30BB-E83E5BCAFED4}"/>
              </a:ext>
            </a:extLst>
          </p:cNvPr>
          <p:cNvCxnSpPr>
            <a:cxnSpLocks/>
          </p:cNvCxnSpPr>
          <p:nvPr/>
        </p:nvCxnSpPr>
        <p:spPr>
          <a:xfrm>
            <a:off x="0" y="4177644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3860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552</Words>
  <Application>Microsoft Office PowerPoint</Application>
  <PresentationFormat>Panorámica</PresentationFormat>
  <Paragraphs>104</Paragraphs>
  <Slides>12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Google Sans Text</vt:lpstr>
      <vt:lpstr>Segoe UI Symbol</vt:lpstr>
      <vt:lpstr>Tema de Office</vt:lpstr>
      <vt:lpstr>EVENTMANAGER: UNA APLICACIÓN WEB PARA GESTIÓN DE EVENTOS </vt:lpstr>
      <vt:lpstr>Índice</vt:lpstr>
      <vt:lpstr>Motivación y contexto</vt:lpstr>
      <vt:lpstr>Objetivos</vt:lpstr>
      <vt:lpstr>Metodología</vt:lpstr>
      <vt:lpstr>Modelo de dominio</vt:lpstr>
      <vt:lpstr>Estructura del sistema y stack tecnológico</vt:lpstr>
      <vt:lpstr>Detalles de la implementación</vt:lpstr>
      <vt:lpstr>Control de calidad</vt:lpstr>
      <vt:lpstr>Demostración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Torres Rivero</dc:creator>
  <cp:lastModifiedBy>Sergio Torres Rivero</cp:lastModifiedBy>
  <cp:revision>71</cp:revision>
  <dcterms:created xsi:type="dcterms:W3CDTF">2026-06-07T11:33:45Z</dcterms:created>
  <dcterms:modified xsi:type="dcterms:W3CDTF">2026-06-08T18:51:20Z</dcterms:modified>
</cp:coreProperties>
</file>